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533400"/>
            <a:ext cx="247650" cy="247650"/>
          </a:xfrm>
          <a:prstGeom prst="roundRect">
            <a:avLst>
              <a:gd name="adj" fmla="val 29000"/>
            </a:avLst>
          </a:prstGeom>
          <a:solidFill>
            <a:srgbClr val="312E81"/>
          </a:solidFill>
          <a:ln/>
        </p:spPr>
      </p:sp>
      <p:sp>
        <p:nvSpPr>
          <p:cNvPr id="4" name="Shape 2"/>
          <p:cNvSpPr/>
          <p:nvPr/>
        </p:nvSpPr>
        <p:spPr>
          <a:xfrm>
            <a:off x="671513" y="672703"/>
            <a:ext cx="41275" cy="4127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754062" y="600472"/>
            <a:ext cx="41275" cy="41275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763349" y="681990"/>
            <a:ext cx="33020" cy="330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692150" y="621109"/>
            <a:ext cx="82550" cy="72231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700" y="621109"/>
            <a:ext cx="5159" cy="77391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523875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198120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STARTUP CONCEPT DOCUMENT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" y="220980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09600" y="33528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Operating Copilot for Cambodian SMEs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9600" y="4095750"/>
            <a:ext cx="28575" cy="5905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4076700"/>
            <a:ext cx="5143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i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Helping SMEs make smarter business decisions, not just manage inventory.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81900" y="1543050"/>
            <a:ext cx="4000500" cy="4000500"/>
          </a:xfrm>
          <a:prstGeom prst="ellipse">
            <a:avLst/>
          </a:prstGeom>
          <a:ln w="1905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3400" y="2114550"/>
            <a:ext cx="2857500" cy="2857500"/>
          </a:xfrm>
          <a:prstGeom prst="ellipse">
            <a:avLst/>
          </a:prstGeom>
          <a:ln w="17780">
            <a:solidFill>
              <a:srgbClr val="4338C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705850" y="2667000"/>
            <a:ext cx="1752600" cy="1752600"/>
          </a:xfrm>
          <a:prstGeom prst="ellipse">
            <a:avLst/>
          </a:prstGeom>
          <a:ln w="1778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582150" y="1943100"/>
            <a:ext cx="10" cy="160020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82150" y="3543300"/>
            <a:ext cx="1571625" cy="1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8153400" y="3543300"/>
            <a:ext cx="1428750" cy="91440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82150" y="3543300"/>
            <a:ext cx="1095375" cy="123825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34500" y="1695450"/>
            <a:ext cx="495300" cy="495300"/>
          </a:xfrm>
          <a:prstGeom prst="ellipse">
            <a:avLst/>
          </a:prstGeom>
          <a:solidFill>
            <a:srgbClr val="312E81"/>
          </a:solidFill>
          <a:ln w="17780">
            <a:solidFill>
              <a:srgbClr val="636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44225" y="3333750"/>
            <a:ext cx="419100" cy="419100"/>
          </a:xfrm>
          <a:prstGeom prst="ellipse">
            <a:avLst/>
          </a:prstGeom>
          <a:solidFill>
            <a:srgbClr val="0F172A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62900" y="4267200"/>
            <a:ext cx="381000" cy="381000"/>
          </a:xfrm>
          <a:prstGeom prst="ellipse">
            <a:avLst/>
          </a:prstGeom>
          <a:solidFill>
            <a:srgbClr val="0F172A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06075" y="4610100"/>
            <a:ext cx="342900" cy="342900"/>
          </a:xfrm>
          <a:prstGeom prst="ellipse">
            <a:avLst/>
          </a:prstGeom>
          <a:solidFill>
            <a:srgbClr val="0F172A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63050" y="3124200"/>
            <a:ext cx="838200" cy="8382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9429750" y="3562350"/>
            <a:ext cx="114300" cy="114300"/>
          </a:xfrm>
          <a:prstGeom prst="line">
            <a:avLst/>
          </a:prstGeom>
          <a:noFill/>
          <a:ln w="5715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9544050" y="3429000"/>
            <a:ext cx="209550" cy="247650"/>
          </a:xfrm>
          <a:prstGeom prst="line">
            <a:avLst/>
          </a:prstGeom>
          <a:noFill/>
          <a:ln w="5715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01150" y="1590675"/>
            <a:ext cx="1143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725150" y="3467100"/>
            <a:ext cx="1143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FLOW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296150" y="4419600"/>
            <a:ext cx="1143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 STOCK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458450" y="4972050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09600" y="6286500"/>
            <a:ext cx="476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for the AIM Competition  ·  August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19900" y="6286500"/>
            <a:ext cx="476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29500" cy="28575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0" y="0"/>
            <a:ext cx="47625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419100"/>
            <a:ext cx="209550" cy="209550"/>
          </a:xfrm>
          <a:prstGeom prst="roundRect">
            <a:avLst>
              <a:gd name="adj" fmla="val 29000"/>
            </a:avLst>
          </a:prstGeom>
          <a:solidFill>
            <a:srgbClr val="312E81"/>
          </a:solidFill>
          <a:ln/>
        </p:spPr>
      </p:sp>
      <p:sp>
        <p:nvSpPr>
          <p:cNvPr id="5" name="Shape 3"/>
          <p:cNvSpPr/>
          <p:nvPr/>
        </p:nvSpPr>
        <p:spPr>
          <a:xfrm>
            <a:off x="661988" y="536972"/>
            <a:ext cx="34925" cy="3492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838" y="475853"/>
            <a:ext cx="34925" cy="34925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39696" y="544830"/>
            <a:ext cx="27940" cy="279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679450" y="493316"/>
            <a:ext cx="69850" cy="61119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300" y="493316"/>
            <a:ext cx="4366" cy="6548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409575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0" y="4095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9600" y="952500"/>
            <a:ext cx="857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6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11811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is not an inventory system.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an 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Operating Copilot.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9600" y="2381250"/>
            <a:ext cx="4305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Today, many Cambodian SMEs make critical decisions on intuition, fragmented spreadsheets, paper records, and incomplete information.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09600" y="3238500"/>
            <a:ext cx="4305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transforms operational data into </a:t>
            </a:r>
            <a:pPr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actionable business intelligence</a:t>
            </a:r>
            <a:pPr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 virtual business analyst, available 24/7.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09600" y="4305300"/>
            <a:ext cx="4305300" cy="914400"/>
          </a:xfrm>
          <a:prstGeom prst="roundRect">
            <a:avLst>
              <a:gd name="adj" fmla="val 16667"/>
            </a:avLst>
          </a:prstGeom>
          <a:solidFill>
            <a:srgbClr val="312E81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" y="451485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40" kern="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INSTEAD OF ASKING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8200" y="4724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“How much stock do I have?”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1150" y="2381250"/>
            <a:ext cx="476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40" kern="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OWNERS CAN ASK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91150" y="2628900"/>
            <a:ext cx="61912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43550" y="271462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EF2FF"/>
          </a:solidFill>
          <a:ln/>
        </p:spPr>
      </p:sp>
      <p:sp>
        <p:nvSpPr>
          <p:cNvPr id="22" name="Shape 20"/>
          <p:cNvSpPr/>
          <p:nvPr/>
        </p:nvSpPr>
        <p:spPr>
          <a:xfrm flipV="1">
            <a:off x="5619750" y="2867025"/>
            <a:ext cx="66675" cy="666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6425" y="2867025"/>
            <a:ext cx="38100" cy="285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724525" y="2819400"/>
            <a:ext cx="66675" cy="76200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8850" y="262890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should I buy next week?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91150" y="3219450"/>
            <a:ext cx="61912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43550" y="33051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CFDF5"/>
          </a:solidFill>
          <a:ln/>
        </p:spPr>
      </p:sp>
      <p:sp>
        <p:nvSpPr>
          <p:cNvPr id="28" name="Shape 26"/>
          <p:cNvSpPr/>
          <p:nvPr/>
        </p:nvSpPr>
        <p:spPr>
          <a:xfrm>
            <a:off x="5629275" y="3390900"/>
            <a:ext cx="152400" cy="152400"/>
          </a:xfrm>
          <a:prstGeom prst="ellipse">
            <a:avLst/>
          </a:prstGeom>
          <a:ln w="254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05475" y="3419475"/>
            <a:ext cx="10" cy="9525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8850" y="321945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products are hurting cash flow?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1150" y="3810000"/>
            <a:ext cx="61912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43550" y="389572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EF2FF"/>
          </a:solidFill>
          <a:ln/>
        </p:spPr>
      </p:sp>
      <p:sp>
        <p:nvSpPr>
          <p:cNvPr id="33" name="Shape 31"/>
          <p:cNvSpPr/>
          <p:nvPr/>
        </p:nvSpPr>
        <p:spPr>
          <a:xfrm flipV="1">
            <a:off x="5629275" y="4067175"/>
            <a:ext cx="10" cy="66675"/>
          </a:xfrm>
          <a:prstGeom prst="line">
            <a:avLst/>
          </a:prstGeom>
          <a:noFill/>
          <a:ln w="30480">
            <a:solidFill>
              <a:srgbClr val="312E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686425" y="4010025"/>
            <a:ext cx="10" cy="123825"/>
          </a:xfrm>
          <a:prstGeom prst="line">
            <a:avLst/>
          </a:prstGeom>
          <a:noFill/>
          <a:ln w="30480">
            <a:solidFill>
              <a:srgbClr val="312E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743575" y="4048125"/>
            <a:ext cx="10" cy="85725"/>
          </a:xfrm>
          <a:prstGeom prst="line">
            <a:avLst/>
          </a:prstGeom>
          <a:noFill/>
          <a:ln w="30480">
            <a:solidFill>
              <a:srgbClr val="312E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791200" y="4086225"/>
            <a:ext cx="10" cy="47625"/>
          </a:xfrm>
          <a:prstGeom prst="line">
            <a:avLst/>
          </a:prstGeom>
          <a:noFill/>
          <a:ln w="30480">
            <a:solidFill>
              <a:srgbClr val="312E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8850" y="381000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products will likely sell out soon?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91150" y="4400550"/>
            <a:ext cx="61912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43550" y="44862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CFDF5"/>
          </a:solidFill>
          <a:ln/>
        </p:spPr>
      </p:sp>
      <p:sp>
        <p:nvSpPr>
          <p:cNvPr id="40" name="Shape 38"/>
          <p:cNvSpPr/>
          <p:nvPr/>
        </p:nvSpPr>
        <p:spPr>
          <a:xfrm>
            <a:off x="5629275" y="4572000"/>
            <a:ext cx="152400" cy="152400"/>
          </a:xfrm>
          <a:prstGeom prst="roundRect">
            <a:avLst>
              <a:gd name="adj" fmla="val 18750"/>
            </a:avLst>
          </a:prstGeom>
          <a:ln w="254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7375" y="4657725"/>
            <a:ext cx="28575" cy="28575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695950" y="4619625"/>
            <a:ext cx="57150" cy="66675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8850" y="440055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items are becoming dead stock?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391150" y="4991100"/>
            <a:ext cx="619125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43550" y="507682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EF2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619750" y="5153025"/>
            <a:ext cx="171450" cy="171450"/>
          </a:xfrm>
          <a:prstGeom prst="ellipse">
            <a:avLst/>
          </a:prstGeom>
          <a:ln w="25400">
            <a:solidFill>
              <a:srgbClr val="312E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5705475" y="5191125"/>
            <a:ext cx="47625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8850" y="499110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am I losing profit?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— Confidential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674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Decision Intelligence Platform for SMEs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29500" cy="28575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0" y="0"/>
            <a:ext cx="47625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419100"/>
            <a:ext cx="209550" cy="209550"/>
          </a:xfrm>
          <a:prstGeom prst="roundRect">
            <a:avLst>
              <a:gd name="adj" fmla="val 29000"/>
            </a:avLst>
          </a:prstGeom>
          <a:solidFill>
            <a:srgbClr val="312E81"/>
          </a:solidFill>
          <a:ln/>
        </p:spPr>
      </p:sp>
      <p:sp>
        <p:nvSpPr>
          <p:cNvPr id="5" name="Shape 3"/>
          <p:cNvSpPr/>
          <p:nvPr/>
        </p:nvSpPr>
        <p:spPr>
          <a:xfrm>
            <a:off x="661988" y="536972"/>
            <a:ext cx="34925" cy="3492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838" y="475853"/>
            <a:ext cx="34925" cy="34925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39696" y="544830"/>
            <a:ext cx="27940" cy="279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679450" y="493316"/>
            <a:ext cx="69850" cy="61119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300" y="493316"/>
            <a:ext cx="4366" cy="6548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409575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0" y="4095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9600" y="952500"/>
            <a:ext cx="857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6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11811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SMEs are drowning in data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starving for 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9600" y="2324100"/>
            <a:ext cx="3143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SME WORKFLOW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9600" y="2571750"/>
            <a:ext cx="3143250" cy="4191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050" y="25717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24075" y="3009900"/>
            <a:ext cx="114300" cy="13335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3162300"/>
            <a:ext cx="3143250" cy="4191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" y="31623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&amp; paper records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24075" y="3600450"/>
            <a:ext cx="114300" cy="13335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3752850"/>
            <a:ext cx="3143250" cy="4191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050" y="37528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decisions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24075" y="4191000"/>
            <a:ext cx="114300" cy="13335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600" y="4343400"/>
            <a:ext cx="3143250" cy="419100"/>
          </a:xfrm>
          <a:prstGeom prst="roundRect">
            <a:avLst>
              <a:gd name="adj" fmla="val 25000"/>
            </a:avLst>
          </a:prstGeom>
          <a:solidFill>
            <a:srgbClr val="FFF1F2"/>
          </a:solidFill>
          <a:ln w="12700">
            <a:solidFill>
              <a:srgbClr val="FDA4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050" y="43434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Stockouts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24075" y="4781550"/>
            <a:ext cx="114300" cy="133350"/>
          </a:xfrm>
          <a:prstGeom prst="downArrow">
            <a:avLst/>
          </a:prstGeom>
          <a:solidFill>
            <a:srgbClr val="FDA4A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600" y="4933950"/>
            <a:ext cx="3143250" cy="419100"/>
          </a:xfrm>
          <a:prstGeom prst="roundRect">
            <a:avLst>
              <a:gd name="adj" fmla="val 25000"/>
            </a:avLst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050" y="49339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 revenue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52900" y="2324100"/>
            <a:ext cx="3695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 POINTS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52900" y="2667000"/>
            <a:ext cx="57150" cy="5715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1" name="Text 29"/>
          <p:cNvSpPr/>
          <p:nvPr/>
        </p:nvSpPr>
        <p:spPr>
          <a:xfrm>
            <a:off x="4305300" y="2590800"/>
            <a:ext cx="354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decisions are made by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guesswork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52900" y="3048000"/>
            <a:ext cx="57150" cy="5715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3" name="Text 31"/>
          <p:cNvSpPr/>
          <p:nvPr/>
        </p:nvSpPr>
        <p:spPr>
          <a:xfrm>
            <a:off x="4305300" y="2971800"/>
            <a:ext cx="354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is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trapped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slow-moving products.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52900" y="3429000"/>
            <a:ext cx="57150" cy="5715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5" name="Text 33"/>
          <p:cNvSpPr/>
          <p:nvPr/>
        </p:nvSpPr>
        <p:spPr>
          <a:xfrm>
            <a:off x="4305300" y="3352800"/>
            <a:ext cx="354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cannot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 future demand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52900" y="3810000"/>
            <a:ext cx="57150" cy="5715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7" name="Text 35"/>
          <p:cNvSpPr/>
          <p:nvPr/>
        </p:nvSpPr>
        <p:spPr>
          <a:xfrm>
            <a:off x="4305300" y="3733800"/>
            <a:ext cx="354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data exists but is rarely turned into insight.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52900" y="4191000"/>
            <a:ext cx="57150" cy="5715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9" name="Text 37"/>
          <p:cNvSpPr/>
          <p:nvPr/>
        </p:nvSpPr>
        <p:spPr>
          <a:xfrm>
            <a:off x="4305300" y="4114800"/>
            <a:ext cx="354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SMEs lack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affordable BI tools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67700" y="2324100"/>
            <a:ext cx="3314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COMPOUNDING INTO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267700" y="2590800"/>
            <a:ext cx="3314700" cy="361950"/>
          </a:xfrm>
          <a:prstGeom prst="roundRect">
            <a:avLst>
              <a:gd name="adj" fmla="val 2631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67700" y="2590800"/>
            <a:ext cx="3314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problem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67700" y="30289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267700" y="3276600"/>
            <a:ext cx="3314700" cy="361950"/>
          </a:xfrm>
          <a:prstGeom prst="roundRect">
            <a:avLst>
              <a:gd name="adj" fmla="val 2631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67700" y="3276600"/>
            <a:ext cx="3314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flow problem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67700" y="37147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267700" y="3962400"/>
            <a:ext cx="3314700" cy="361950"/>
          </a:xfrm>
          <a:prstGeom prst="roundRect">
            <a:avLst>
              <a:gd name="adj" fmla="val 2631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67700" y="3962400"/>
            <a:ext cx="3314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problem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267700" y="44005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267700" y="4648200"/>
            <a:ext cx="3314700" cy="438150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8267700" y="4648200"/>
            <a:ext cx="33147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growth problem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— Confidential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8674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Decision Intelligence Platform for SMEs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29500" cy="28575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0" y="0"/>
            <a:ext cx="47625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419100"/>
            <a:ext cx="209550" cy="209550"/>
          </a:xfrm>
          <a:prstGeom prst="roundRect">
            <a:avLst>
              <a:gd name="adj" fmla="val 29000"/>
            </a:avLst>
          </a:prstGeom>
          <a:solidFill>
            <a:srgbClr val="312E81"/>
          </a:solidFill>
          <a:ln/>
        </p:spPr>
      </p:sp>
      <p:sp>
        <p:nvSpPr>
          <p:cNvPr id="5" name="Shape 3"/>
          <p:cNvSpPr/>
          <p:nvPr/>
        </p:nvSpPr>
        <p:spPr>
          <a:xfrm>
            <a:off x="661988" y="536972"/>
            <a:ext cx="34925" cy="3492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838" y="475853"/>
            <a:ext cx="34925" cy="34925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39696" y="544830"/>
            <a:ext cx="27940" cy="279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679450" y="493316"/>
            <a:ext cx="69850" cy="61119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300" y="493316"/>
            <a:ext cx="4366" cy="6548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409575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0" y="4095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9600" y="952500"/>
            <a:ext cx="857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6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1143000"/>
            <a:ext cx="1047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Business Decision Intelligence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09600" y="2000250"/>
            <a:ext cx="30480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1050" y="21717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EF2FF"/>
          </a:solidFill>
          <a:ln/>
        </p:spPr>
      </p:sp>
      <p:sp>
        <p:nvSpPr>
          <p:cNvPr id="16" name="Shape 14"/>
          <p:cNvSpPr/>
          <p:nvPr/>
        </p:nvSpPr>
        <p:spPr>
          <a:xfrm flipV="1">
            <a:off x="857250" y="2324100"/>
            <a:ext cx="66675" cy="666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925" y="2324100"/>
            <a:ext cx="38100" cy="285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62025" y="2276475"/>
            <a:ext cx="66675" cy="76200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" y="2590800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Demand Forecasting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1050" y="2800350"/>
            <a:ext cx="2705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Predicts future demand from historical sales patterns.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1050" y="3181350"/>
            <a:ext cx="754380" cy="161925"/>
          </a:xfrm>
          <a:prstGeom prst="roundRect">
            <a:avLst>
              <a:gd name="adj" fmla="val 35294"/>
            </a:avLst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781050" y="3181350"/>
            <a:ext cx="7543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trends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1592580" y="3181350"/>
            <a:ext cx="960120" cy="161925"/>
          </a:xfrm>
          <a:prstGeom prst="roundRect">
            <a:avLst>
              <a:gd name="adj" fmla="val 35294"/>
            </a:avLst>
          </a:prstGeom>
          <a:solidFill>
            <a:srgbClr val="EE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1592580" y="3181350"/>
            <a:ext cx="9601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Seasonal patterns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2609850" y="3181350"/>
            <a:ext cx="805815" cy="161925"/>
          </a:xfrm>
          <a:prstGeom prst="roundRect">
            <a:avLst>
              <a:gd name="adj" fmla="val 35294"/>
            </a:avLst>
          </a:prstGeom>
          <a:solidFill>
            <a:srgbClr val="EEF2FF"/>
          </a:solidFill>
          <a:ln/>
        </p:spPr>
      </p:sp>
      <p:sp>
        <p:nvSpPr>
          <p:cNvPr id="26" name="Text 24"/>
          <p:cNvSpPr/>
          <p:nvPr/>
        </p:nvSpPr>
        <p:spPr>
          <a:xfrm>
            <a:off x="2609850" y="3181350"/>
            <a:ext cx="8058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 signals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771900" y="2000250"/>
            <a:ext cx="30480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43350" y="21717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CFDF5"/>
          </a:solidFill>
          <a:ln/>
        </p:spPr>
      </p:sp>
      <p:sp>
        <p:nvSpPr>
          <p:cNvPr id="29" name="Shape 27"/>
          <p:cNvSpPr/>
          <p:nvPr/>
        </p:nvSpPr>
        <p:spPr>
          <a:xfrm>
            <a:off x="4029075" y="2257425"/>
            <a:ext cx="152400" cy="152400"/>
          </a:xfrm>
          <a:prstGeom prst="ellipse">
            <a:avLst/>
          </a:prstGeom>
          <a:ln w="254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05275" y="2286000"/>
            <a:ext cx="10" cy="9525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43350" y="2590800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Cash Flow Optimizer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943350" y="2800350"/>
            <a:ext cx="2705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Recommends what to buy against an available budget.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943350" y="3181350"/>
            <a:ext cx="960120" cy="161925"/>
          </a:xfrm>
          <a:prstGeom prst="roundRect">
            <a:avLst>
              <a:gd name="adj" fmla="val 35294"/>
            </a:avLst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3943350" y="3181350"/>
            <a:ext cx="9601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Budget-aware buys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4960620" y="3181350"/>
            <a:ext cx="960120" cy="161925"/>
          </a:xfrm>
          <a:prstGeom prst="roundRect">
            <a:avLst>
              <a:gd name="adj" fmla="val 35294"/>
            </a:avLst>
          </a:prstGeom>
          <a:solidFill>
            <a:srgbClr val="ECFDF5"/>
          </a:solidFill>
          <a:ln/>
        </p:spPr>
      </p:sp>
      <p:sp>
        <p:nvSpPr>
          <p:cNvPr id="36" name="Text 34"/>
          <p:cNvSpPr/>
          <p:nvPr/>
        </p:nvSpPr>
        <p:spPr>
          <a:xfrm>
            <a:off x="4960620" y="3181350"/>
            <a:ext cx="9601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Turnover priority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609600" y="3562350"/>
            <a:ext cx="30480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81050" y="37338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EF2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66775" y="3819525"/>
            <a:ext cx="152400" cy="152400"/>
          </a:xfrm>
          <a:prstGeom prst="roundRect">
            <a:avLst>
              <a:gd name="adj" fmla="val 18750"/>
            </a:avLst>
          </a:prstGeom>
          <a:ln w="25400">
            <a:solidFill>
              <a:srgbClr val="312E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4875" y="3905250"/>
            <a:ext cx="28575" cy="285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933450" y="3867150"/>
            <a:ext cx="57150" cy="666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050" y="4152900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 Stock Intelligence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81050" y="4362450"/>
            <a:ext cx="2705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products consuming capital without earning revenue.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81050" y="4743450"/>
            <a:ext cx="651510" cy="161925"/>
          </a:xfrm>
          <a:prstGeom prst="roundRect">
            <a:avLst>
              <a:gd name="adj" fmla="val 35294"/>
            </a:avLst>
          </a:prstGeom>
          <a:solidFill>
            <a:srgbClr val="EEF2FF"/>
          </a:solidFill>
          <a:ln/>
        </p:spPr>
      </p:sp>
      <p:sp>
        <p:nvSpPr>
          <p:cNvPr id="45" name="Text 43"/>
          <p:cNvSpPr/>
          <p:nvPr/>
        </p:nvSpPr>
        <p:spPr>
          <a:xfrm>
            <a:off x="781050" y="4743450"/>
            <a:ext cx="6515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movers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1489710" y="4743450"/>
            <a:ext cx="805815" cy="161925"/>
          </a:xfrm>
          <a:prstGeom prst="roundRect">
            <a:avLst>
              <a:gd name="adj" fmla="val 35294"/>
            </a:avLst>
          </a:prstGeom>
          <a:solidFill>
            <a:srgbClr val="EEF2FF"/>
          </a:solidFill>
          <a:ln/>
        </p:spPr>
      </p:sp>
      <p:sp>
        <p:nvSpPr>
          <p:cNvPr id="47" name="Text 45"/>
          <p:cNvSpPr/>
          <p:nvPr/>
        </p:nvSpPr>
        <p:spPr>
          <a:xfrm>
            <a:off x="1489710" y="4743450"/>
            <a:ext cx="8058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Overstock risk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2352675" y="4743450"/>
            <a:ext cx="805815" cy="161925"/>
          </a:xfrm>
          <a:prstGeom prst="roundRect">
            <a:avLst>
              <a:gd name="adj" fmla="val 35294"/>
            </a:avLst>
          </a:prstGeom>
          <a:solidFill>
            <a:srgbClr val="EEF2FF"/>
          </a:solidFill>
          <a:ln/>
        </p:spPr>
      </p:sp>
      <p:sp>
        <p:nvSpPr>
          <p:cNvPr id="49" name="Text 47"/>
          <p:cNvSpPr/>
          <p:nvPr/>
        </p:nvSpPr>
        <p:spPr>
          <a:xfrm>
            <a:off x="2352675" y="4743450"/>
            <a:ext cx="8058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Locked capital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3771900" y="3562350"/>
            <a:ext cx="30480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943350" y="37338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CFDF5"/>
          </a:solidFill>
          <a:ln/>
        </p:spPr>
      </p:sp>
      <p:sp>
        <p:nvSpPr>
          <p:cNvPr id="52" name="Shape 50"/>
          <p:cNvSpPr/>
          <p:nvPr/>
        </p:nvSpPr>
        <p:spPr>
          <a:xfrm>
            <a:off x="4010025" y="3895725"/>
            <a:ext cx="47625" cy="1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057650" y="3829050"/>
            <a:ext cx="28575" cy="66675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86225" y="3829050"/>
            <a:ext cx="38100" cy="13335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124325" y="3895725"/>
            <a:ext cx="28575" cy="66675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52900" y="3895725"/>
            <a:ext cx="47625" cy="1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43350" y="4152900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Health Monitor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3943350" y="4362450"/>
            <a:ext cx="2705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Continuously analyzes overall business performance.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943350" y="4743450"/>
            <a:ext cx="805815" cy="161925"/>
          </a:xfrm>
          <a:prstGeom prst="roundRect">
            <a:avLst>
              <a:gd name="adj" fmla="val 35294"/>
            </a:avLst>
          </a:prstGeom>
          <a:solidFill>
            <a:srgbClr val="ECFDF5"/>
          </a:solidFill>
          <a:ln/>
        </p:spPr>
      </p:sp>
      <p:sp>
        <p:nvSpPr>
          <p:cNvPr id="60" name="Text 58"/>
          <p:cNvSpPr/>
          <p:nvPr/>
        </p:nvSpPr>
        <p:spPr>
          <a:xfrm>
            <a:off x="3943350" y="4743450"/>
            <a:ext cx="8058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trends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4806315" y="4743450"/>
            <a:ext cx="1114425" cy="161925"/>
          </a:xfrm>
          <a:prstGeom prst="roundRect">
            <a:avLst>
              <a:gd name="adj" fmla="val 35294"/>
            </a:avLst>
          </a:prstGeom>
          <a:solidFill>
            <a:srgbClr val="ECFDF5"/>
          </a:solidFill>
          <a:ln/>
        </p:spPr>
      </p:sp>
      <p:sp>
        <p:nvSpPr>
          <p:cNvPr id="62" name="Text 60"/>
          <p:cNvSpPr/>
          <p:nvPr/>
        </p:nvSpPr>
        <p:spPr>
          <a:xfrm>
            <a:off x="4806315" y="4743450"/>
            <a:ext cx="11144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performance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5977890" y="4743450"/>
            <a:ext cx="908685" cy="161925"/>
          </a:xfrm>
          <a:prstGeom prst="roundRect">
            <a:avLst>
              <a:gd name="adj" fmla="val 35294"/>
            </a:avLst>
          </a:prstGeom>
          <a:solidFill>
            <a:srgbClr val="ECFDF5"/>
          </a:solidFill>
          <a:ln/>
        </p:spPr>
      </p:sp>
      <p:sp>
        <p:nvSpPr>
          <p:cNvPr id="64" name="Text 62"/>
          <p:cNvSpPr/>
          <p:nvPr/>
        </p:nvSpPr>
        <p:spPr>
          <a:xfrm>
            <a:off x="5977890" y="4743450"/>
            <a:ext cx="9086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risk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7048500" y="2000250"/>
            <a:ext cx="4533900" cy="3543300"/>
          </a:xfrm>
          <a:prstGeom prst="roundRect">
            <a:avLst>
              <a:gd name="adj" fmla="val 4301"/>
            </a:avLst>
          </a:prstGeom>
          <a:solidFill>
            <a:srgbClr val="0F172A"/>
          </a:solidFill>
          <a:ln/>
        </p:spPr>
      </p:sp>
      <p:sp>
        <p:nvSpPr>
          <p:cNvPr id="66" name="Shape 64"/>
          <p:cNvSpPr/>
          <p:nvPr/>
        </p:nvSpPr>
        <p:spPr>
          <a:xfrm>
            <a:off x="7219950" y="215265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/>
        </p:spPr>
      </p:sp>
      <p:sp>
        <p:nvSpPr>
          <p:cNvPr id="67" name="Shape 65"/>
          <p:cNvSpPr/>
          <p:nvPr/>
        </p:nvSpPr>
        <p:spPr>
          <a:xfrm>
            <a:off x="7258050" y="2238375"/>
            <a:ext cx="38100" cy="38100"/>
          </a:xfrm>
          <a:prstGeom prst="line">
            <a:avLst/>
          </a:prstGeom>
          <a:noFill/>
          <a:ln w="30480">
            <a:solidFill>
              <a:srgbClr val="0F17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7296150" y="2200275"/>
            <a:ext cx="66675" cy="76200"/>
          </a:xfrm>
          <a:prstGeom prst="line">
            <a:avLst/>
          </a:prstGeom>
          <a:noFill/>
          <a:ln w="30480">
            <a:solidFill>
              <a:srgbClr val="0F17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67600" y="213360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Copilot Chat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0991850" y="2152650"/>
            <a:ext cx="419100" cy="171450"/>
          </a:xfrm>
          <a:prstGeom prst="roundRect">
            <a:avLst>
              <a:gd name="adj" fmla="val 27778"/>
            </a:avLst>
          </a:prstGeom>
          <a:solidFill>
            <a:srgbClr val="065F46"/>
          </a:solidFill>
          <a:ln/>
        </p:spPr>
      </p:sp>
      <p:sp>
        <p:nvSpPr>
          <p:cNvPr id="71" name="Text 69"/>
          <p:cNvSpPr/>
          <p:nvPr/>
        </p:nvSpPr>
        <p:spPr>
          <a:xfrm>
            <a:off x="10991850" y="2152650"/>
            <a:ext cx="419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219950" y="2438400"/>
            <a:ext cx="4191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3" name="Shape 71"/>
          <p:cNvSpPr/>
          <p:nvPr/>
        </p:nvSpPr>
        <p:spPr>
          <a:xfrm>
            <a:off x="8553450" y="2571750"/>
            <a:ext cx="2857500" cy="323850"/>
          </a:xfrm>
          <a:prstGeom prst="roundRect">
            <a:avLst>
              <a:gd name="adj" fmla="val 35294"/>
            </a:avLst>
          </a:prstGeom>
          <a:solidFill>
            <a:srgbClr val="312E81"/>
          </a:solidFill>
          <a:ln/>
        </p:spPr>
      </p:sp>
      <p:sp>
        <p:nvSpPr>
          <p:cNvPr id="74" name="Text 72"/>
          <p:cNvSpPr/>
          <p:nvPr/>
        </p:nvSpPr>
        <p:spPr>
          <a:xfrm>
            <a:off x="8667750" y="2571750"/>
            <a:ext cx="2628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have a $500 budget this week. What should I reorder?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219950" y="2990850"/>
            <a:ext cx="3619500" cy="161925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76" name="Text 74"/>
          <p:cNvSpPr/>
          <p:nvPr/>
        </p:nvSpPr>
        <p:spPr>
          <a:xfrm>
            <a:off x="7334250" y="3105150"/>
            <a:ext cx="3390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Prioritise these — highest turnover per dollar: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334250" y="3314700"/>
            <a:ext cx="3390900" cy="228600"/>
          </a:xfrm>
          <a:prstGeom prst="roundRect">
            <a:avLst>
              <a:gd name="adj" fmla="val 29167"/>
            </a:avLst>
          </a:prstGeom>
          <a:solidFill>
            <a:srgbClr val="0F172A"/>
          </a:solidFill>
          <a:ln/>
        </p:spPr>
      </p:sp>
      <p:sp>
        <p:nvSpPr>
          <p:cNvPr id="78" name="Text 76"/>
          <p:cNvSpPr/>
          <p:nvPr/>
        </p:nvSpPr>
        <p:spPr>
          <a:xfrm>
            <a:off x="7429500" y="331470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Coca-Cola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334250" y="3314700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$180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334250" y="3581400"/>
            <a:ext cx="3390900" cy="228600"/>
          </a:xfrm>
          <a:prstGeom prst="roundRect">
            <a:avLst>
              <a:gd name="adj" fmla="val 29167"/>
            </a:avLst>
          </a:prstGeom>
          <a:solidFill>
            <a:srgbClr val="0F172A"/>
          </a:solidFill>
          <a:ln/>
        </p:spPr>
      </p:sp>
      <p:sp>
        <p:nvSpPr>
          <p:cNvPr id="81" name="Text 79"/>
          <p:cNvSpPr/>
          <p:nvPr/>
        </p:nvSpPr>
        <p:spPr>
          <a:xfrm>
            <a:off x="7429500" y="358140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Noodles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334250" y="3581400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$210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334250" y="3848100"/>
            <a:ext cx="3390900" cy="228600"/>
          </a:xfrm>
          <a:prstGeom prst="roundRect">
            <a:avLst>
              <a:gd name="adj" fmla="val 29167"/>
            </a:avLst>
          </a:prstGeom>
          <a:solidFill>
            <a:srgbClr val="0F172A"/>
          </a:solidFill>
          <a:ln/>
        </p:spPr>
      </p:sp>
      <p:sp>
        <p:nvSpPr>
          <p:cNvPr id="84" name="Text 82"/>
          <p:cNvSpPr/>
          <p:nvPr/>
        </p:nvSpPr>
        <p:spPr>
          <a:xfrm>
            <a:off x="7429500" y="384810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Bottled Water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334250" y="3848100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$110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334250" y="4133850"/>
            <a:ext cx="3390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Skip: dried snacks — 40 days of cover already in stock.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934450" y="4724400"/>
            <a:ext cx="2476500" cy="285750"/>
          </a:xfrm>
          <a:prstGeom prst="roundRect">
            <a:avLst>
              <a:gd name="adj" fmla="val 40000"/>
            </a:avLst>
          </a:prstGeom>
          <a:solidFill>
            <a:srgbClr val="312E81"/>
          </a:solidFill>
          <a:ln/>
        </p:spPr>
      </p:sp>
      <p:sp>
        <p:nvSpPr>
          <p:cNvPr id="88" name="Text 86"/>
          <p:cNvSpPr/>
          <p:nvPr/>
        </p:nvSpPr>
        <p:spPr>
          <a:xfrm>
            <a:off x="9048750" y="4724400"/>
            <a:ext cx="2247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F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my biggest inventory risk?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219950" y="5105400"/>
            <a:ext cx="4191000" cy="28575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/>
        </p:spPr>
      </p:sp>
      <p:sp>
        <p:nvSpPr>
          <p:cNvPr id="90" name="Text 88"/>
          <p:cNvSpPr/>
          <p:nvPr/>
        </p:nvSpPr>
        <p:spPr>
          <a:xfrm>
            <a:off x="7334250" y="51054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about demand, cash flow, profit…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1163300" y="5248275"/>
            <a:ext cx="133350" cy="1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5400000">
            <a:off x="11258550" y="5200650"/>
            <a:ext cx="76200" cy="95250"/>
          </a:xfrm>
          <a:prstGeom prst="triangle">
            <a:avLst/>
          </a:prstGeom>
          <a:solidFill>
            <a:srgbClr val="34D399"/>
          </a:solidFill>
          <a:ln/>
        </p:spPr>
      </p:sp>
      <p:sp>
        <p:nvSpPr>
          <p:cNvPr id="93" name="Text 91"/>
          <p:cNvSpPr/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— Confidential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8674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modules, one copilot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29500" cy="28575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0" y="0"/>
            <a:ext cx="47625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419100"/>
            <a:ext cx="209550" cy="209550"/>
          </a:xfrm>
          <a:prstGeom prst="roundRect">
            <a:avLst>
              <a:gd name="adj" fmla="val 29000"/>
            </a:avLst>
          </a:prstGeom>
          <a:solidFill>
            <a:srgbClr val="312E81"/>
          </a:solidFill>
          <a:ln/>
        </p:spPr>
      </p:sp>
      <p:sp>
        <p:nvSpPr>
          <p:cNvPr id="5" name="Shape 3"/>
          <p:cNvSpPr/>
          <p:nvPr/>
        </p:nvSpPr>
        <p:spPr>
          <a:xfrm>
            <a:off x="661988" y="536972"/>
            <a:ext cx="34925" cy="3492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838" y="475853"/>
            <a:ext cx="34925" cy="34925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39696" y="544830"/>
            <a:ext cx="27940" cy="279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679450" y="493316"/>
            <a:ext cx="69850" cy="61119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300" y="493316"/>
            <a:ext cx="4366" cy="6548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409575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0" y="4095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DIFFERENTIATION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9600" y="952500"/>
            <a:ext cx="857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6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INVENTRA AI IS DIFFERENT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1143000"/>
            <a:ext cx="1047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record-keeping to </a:t>
            </a:r>
            <a:pPr indent="0" marL="0">
              <a:buNone/>
            </a:pPr>
            <a:r>
              <a:rPr lang="en-US" sz="27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decision-making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09600" y="1962150"/>
            <a:ext cx="49530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200" y="2171700"/>
            <a:ext cx="457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INVENTORY SOFTWARE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38200" y="232410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Tells you what happened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38200" y="2762250"/>
            <a:ext cx="142875" cy="142875"/>
          </a:xfrm>
          <a:prstGeom prst="ellipse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6300" y="2833688"/>
            <a:ext cx="66675" cy="1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5850" y="2733675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stock levels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8200" y="3086100"/>
            <a:ext cx="142875" cy="142875"/>
          </a:xfrm>
          <a:prstGeom prst="ellipse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6300" y="3157538"/>
            <a:ext cx="66675" cy="1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5850" y="3057525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static reports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8200" y="3409950"/>
            <a:ext cx="142875" cy="142875"/>
          </a:xfrm>
          <a:prstGeom prst="ellipse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6300" y="3481388"/>
            <a:ext cx="66675" cy="1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5850" y="3381375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threshold alerts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8200" y="3733800"/>
            <a:ext cx="142875" cy="142875"/>
          </a:xfrm>
          <a:prstGeom prst="ellipse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6300" y="3805237"/>
            <a:ext cx="66675" cy="1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5850" y="3705225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Leaves analysis to the owner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76900" y="30480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72200" y="1866900"/>
            <a:ext cx="5410200" cy="2571750"/>
          </a:xfrm>
          <a:prstGeom prst="roundRect">
            <a:avLst>
              <a:gd name="adj" fmla="val 5926"/>
            </a:avLst>
          </a:prstGeom>
          <a:solidFill>
            <a:srgbClr val="312E81"/>
          </a:solidFill>
          <a:ln/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2095500"/>
            <a:ext cx="4953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0" y="2247900"/>
            <a:ext cx="495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Tells you what to do next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00800" y="2676525"/>
            <a:ext cx="152400" cy="152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6438900" y="2747963"/>
            <a:ext cx="28575" cy="33338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6467475" y="2714625"/>
            <a:ext cx="47625" cy="66675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48450" y="2657475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Predicts demand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72550" y="2676525"/>
            <a:ext cx="152400" cy="152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Shape 36"/>
          <p:cNvSpPr/>
          <p:nvPr/>
        </p:nvSpPr>
        <p:spPr>
          <a:xfrm>
            <a:off x="9010650" y="2747963"/>
            <a:ext cx="28575" cy="33338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9039225" y="2714625"/>
            <a:ext cx="47625" cy="66675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20200" y="2657475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Optimizes purchases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0" y="3057525"/>
            <a:ext cx="152400" cy="152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Shape 40"/>
          <p:cNvSpPr/>
          <p:nvPr/>
        </p:nvSpPr>
        <p:spPr>
          <a:xfrm>
            <a:off x="6438900" y="3128963"/>
            <a:ext cx="28575" cy="33338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467475" y="3095625"/>
            <a:ext cx="47625" cy="66675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48450" y="3038475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risks early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972550" y="3057525"/>
            <a:ext cx="152400" cy="152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6" name="Shape 44"/>
          <p:cNvSpPr/>
          <p:nvPr/>
        </p:nvSpPr>
        <p:spPr>
          <a:xfrm>
            <a:off x="9010650" y="3128963"/>
            <a:ext cx="28575" cy="33338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039225" y="3095625"/>
            <a:ext cx="47625" cy="66675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20200" y="3038475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Explains decisions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400800" y="3438525"/>
            <a:ext cx="152400" cy="152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Shape 48"/>
          <p:cNvSpPr/>
          <p:nvPr/>
        </p:nvSpPr>
        <p:spPr>
          <a:xfrm>
            <a:off x="6438900" y="3509963"/>
            <a:ext cx="28575" cy="33338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6467475" y="3476625"/>
            <a:ext cx="47625" cy="66675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48450" y="3419475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Delivers business intelligence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972550" y="3438525"/>
            <a:ext cx="152400" cy="152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4" name="Shape 52"/>
          <p:cNvSpPr/>
          <p:nvPr/>
        </p:nvSpPr>
        <p:spPr>
          <a:xfrm>
            <a:off x="9010650" y="3509963"/>
            <a:ext cx="28575" cy="33338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9039225" y="3476625"/>
            <a:ext cx="47625" cy="66675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20200" y="3419475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 AI assistant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09600" y="4762500"/>
            <a:ext cx="10972800" cy="1104900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/>
        </p:spPr>
      </p:sp>
      <p:sp>
        <p:nvSpPr>
          <p:cNvPr id="58" name="Shape 56"/>
          <p:cNvSpPr/>
          <p:nvPr/>
        </p:nvSpPr>
        <p:spPr>
          <a:xfrm>
            <a:off x="914400" y="4991100"/>
            <a:ext cx="28575" cy="6477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1143000" y="4991100"/>
            <a:ext cx="1009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systems tell you what happened.</a:t>
            </a:r>
            <a:endParaRPr lang="en-US" sz="18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tells you what to do next.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— Confidential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8674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Decision Intelligence Platform for SMEs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19100"/>
            <a:ext cx="209550" cy="209550"/>
          </a:xfrm>
          <a:prstGeom prst="roundRect">
            <a:avLst>
              <a:gd name="adj" fmla="val 29000"/>
            </a:avLst>
          </a:prstGeom>
          <a:solidFill>
            <a:srgbClr val="312E81"/>
          </a:solidFill>
          <a:ln/>
        </p:spPr>
      </p:sp>
      <p:sp>
        <p:nvSpPr>
          <p:cNvPr id="4" name="Shape 2"/>
          <p:cNvSpPr/>
          <p:nvPr/>
        </p:nvSpPr>
        <p:spPr>
          <a:xfrm>
            <a:off x="661988" y="536972"/>
            <a:ext cx="34925" cy="3492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731838" y="475853"/>
            <a:ext cx="34925" cy="34925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739696" y="544830"/>
            <a:ext cx="27940" cy="279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679450" y="493316"/>
            <a:ext cx="69850" cy="61119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300" y="493316"/>
            <a:ext cx="4366" cy="6548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5350" y="409575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0" y="4095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ARCHITECTURE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9600" y="876300"/>
            <a:ext cx="666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10477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AI brain works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09600" y="1676400"/>
            <a:ext cx="3810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INPUTS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9600" y="1847850"/>
            <a:ext cx="2643188" cy="400050"/>
          </a:xfrm>
          <a:prstGeom prst="roundRect">
            <a:avLst>
              <a:gd name="adj" fmla="val 261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950" y="1847850"/>
            <a:ext cx="23764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6138" y="1847850"/>
            <a:ext cx="2643188" cy="400050"/>
          </a:xfrm>
          <a:prstGeom prst="roundRect">
            <a:avLst>
              <a:gd name="adj" fmla="val 261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9488" y="1847850"/>
            <a:ext cx="23764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2675" y="1847850"/>
            <a:ext cx="2643188" cy="400050"/>
          </a:xfrm>
          <a:prstGeom prst="roundRect">
            <a:avLst>
              <a:gd name="adj" fmla="val 261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6025" y="1847850"/>
            <a:ext cx="23764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rules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39213" y="1847850"/>
            <a:ext cx="2643188" cy="400050"/>
          </a:xfrm>
          <a:prstGeom prst="roundRect">
            <a:avLst>
              <a:gd name="adj" fmla="val 261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2563" y="1847850"/>
            <a:ext cx="23764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signals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9800" y="2324100"/>
            <a:ext cx="152400" cy="171450"/>
          </a:xfrm>
          <a:prstGeom prst="downArrow">
            <a:avLst/>
          </a:prstGeom>
          <a:solidFill>
            <a:srgbClr val="475569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600" y="2571750"/>
            <a:ext cx="10972800" cy="609600"/>
          </a:xfrm>
          <a:prstGeom prst="roundRect">
            <a:avLst>
              <a:gd name="adj" fmla="val 20312"/>
            </a:avLst>
          </a:prstGeom>
          <a:solidFill>
            <a:srgbClr val="4338CA"/>
          </a:solidFill>
          <a:ln/>
        </p:spPr>
      </p:sp>
      <p:sp>
        <p:nvSpPr>
          <p:cNvPr id="24" name="Shape 22"/>
          <p:cNvSpPr/>
          <p:nvPr/>
        </p:nvSpPr>
        <p:spPr>
          <a:xfrm>
            <a:off x="819150" y="276225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866775" y="2876550"/>
            <a:ext cx="38100" cy="38100"/>
          </a:xfrm>
          <a:prstGeom prst="line">
            <a:avLst/>
          </a:prstGeom>
          <a:noFill/>
          <a:ln w="3048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904875" y="2828925"/>
            <a:ext cx="66675" cy="85725"/>
          </a:xfrm>
          <a:prstGeom prst="line">
            <a:avLst/>
          </a:prstGeom>
          <a:noFill/>
          <a:ln w="3048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1100" y="26670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Intelligence Layer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1100" y="287655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Cleans, correlates and reasons over every signal in real time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19800" y="3257550"/>
            <a:ext cx="152400" cy="171450"/>
          </a:xfrm>
          <a:prstGeom prst="downArrow">
            <a:avLst/>
          </a:prstGeom>
          <a:solidFill>
            <a:srgbClr val="475569"/>
          </a:solidFill>
          <a:ln/>
        </p:spPr>
      </p:sp>
      <p:sp>
        <p:nvSpPr>
          <p:cNvPr id="30" name="Text 28"/>
          <p:cNvSpPr/>
          <p:nvPr/>
        </p:nvSpPr>
        <p:spPr>
          <a:xfrm>
            <a:off x="609600" y="3543300"/>
            <a:ext cx="3810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SPECIALISED ENGINES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9600" y="3714750"/>
            <a:ext cx="2643188" cy="666750"/>
          </a:xfrm>
          <a:prstGeom prst="roundRect">
            <a:avLst>
              <a:gd name="adj" fmla="val 15714"/>
            </a:avLst>
          </a:prstGeom>
          <a:solidFill>
            <a:srgbClr val="0B1220"/>
          </a:solidFill>
          <a:ln w="12700">
            <a:solidFill>
              <a:srgbClr val="1E3A3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2950" y="3848100"/>
            <a:ext cx="152400" cy="152400"/>
          </a:xfrm>
          <a:prstGeom prst="roundRect">
            <a:avLst>
              <a:gd name="adj" fmla="val 31250"/>
            </a:avLst>
          </a:prstGeom>
          <a:solidFill>
            <a:srgbClr val="065F46"/>
          </a:solidFill>
          <a:ln/>
        </p:spPr>
      </p:sp>
      <p:sp>
        <p:nvSpPr>
          <p:cNvPr id="33" name="Shape 31"/>
          <p:cNvSpPr/>
          <p:nvPr/>
        </p:nvSpPr>
        <p:spPr>
          <a:xfrm>
            <a:off x="790575" y="3895725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742950" y="4076700"/>
            <a:ext cx="23764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Forecasting Engine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86138" y="3714750"/>
            <a:ext cx="2643188" cy="666750"/>
          </a:xfrm>
          <a:prstGeom prst="roundRect">
            <a:avLst>
              <a:gd name="adj" fmla="val 15714"/>
            </a:avLst>
          </a:prstGeom>
          <a:solidFill>
            <a:srgbClr val="0B1220"/>
          </a:solidFill>
          <a:ln w="12700">
            <a:solidFill>
              <a:srgbClr val="1E3A3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19488" y="3848100"/>
            <a:ext cx="152400" cy="152400"/>
          </a:xfrm>
          <a:prstGeom prst="roundRect">
            <a:avLst>
              <a:gd name="adj" fmla="val 31250"/>
            </a:avLst>
          </a:prstGeom>
          <a:solidFill>
            <a:srgbClr val="065F46"/>
          </a:solidFill>
          <a:ln/>
        </p:spPr>
      </p:sp>
      <p:sp>
        <p:nvSpPr>
          <p:cNvPr id="37" name="Shape 35"/>
          <p:cNvSpPr/>
          <p:nvPr/>
        </p:nvSpPr>
        <p:spPr>
          <a:xfrm>
            <a:off x="3567113" y="3895725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3519488" y="4076700"/>
            <a:ext cx="23764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Detection Engine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62675" y="3714750"/>
            <a:ext cx="2643188" cy="666750"/>
          </a:xfrm>
          <a:prstGeom prst="roundRect">
            <a:avLst>
              <a:gd name="adj" fmla="val 15714"/>
            </a:avLst>
          </a:prstGeom>
          <a:solidFill>
            <a:srgbClr val="0B1220"/>
          </a:solidFill>
          <a:ln w="12700">
            <a:solidFill>
              <a:srgbClr val="1E3A3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96025" y="3848100"/>
            <a:ext cx="152400" cy="152400"/>
          </a:xfrm>
          <a:prstGeom prst="roundRect">
            <a:avLst>
              <a:gd name="adj" fmla="val 31250"/>
            </a:avLst>
          </a:prstGeom>
          <a:solidFill>
            <a:srgbClr val="065F46"/>
          </a:solidFill>
          <a:ln/>
        </p:spPr>
      </p:sp>
      <p:sp>
        <p:nvSpPr>
          <p:cNvPr id="41" name="Shape 39"/>
          <p:cNvSpPr/>
          <p:nvPr/>
        </p:nvSpPr>
        <p:spPr>
          <a:xfrm>
            <a:off x="6343650" y="3895725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2" name="Text 40"/>
          <p:cNvSpPr/>
          <p:nvPr/>
        </p:nvSpPr>
        <p:spPr>
          <a:xfrm>
            <a:off x="6296025" y="4076700"/>
            <a:ext cx="23764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Flow Optimizer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939213" y="3714750"/>
            <a:ext cx="2643188" cy="666750"/>
          </a:xfrm>
          <a:prstGeom prst="roundRect">
            <a:avLst>
              <a:gd name="adj" fmla="val 15714"/>
            </a:avLst>
          </a:prstGeom>
          <a:solidFill>
            <a:srgbClr val="0B1220"/>
          </a:solidFill>
          <a:ln w="12700">
            <a:solidFill>
              <a:srgbClr val="1E3A3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72563" y="3848100"/>
            <a:ext cx="152400" cy="152400"/>
          </a:xfrm>
          <a:prstGeom prst="roundRect">
            <a:avLst>
              <a:gd name="adj" fmla="val 31250"/>
            </a:avLst>
          </a:prstGeom>
          <a:solidFill>
            <a:srgbClr val="065F46"/>
          </a:solidFill>
          <a:ln/>
        </p:spPr>
      </p:sp>
      <p:sp>
        <p:nvSpPr>
          <p:cNvPr id="45" name="Shape 43"/>
          <p:cNvSpPr/>
          <p:nvPr/>
        </p:nvSpPr>
        <p:spPr>
          <a:xfrm>
            <a:off x="9120188" y="3895725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6" name="Text 44"/>
          <p:cNvSpPr/>
          <p:nvPr/>
        </p:nvSpPr>
        <p:spPr>
          <a:xfrm>
            <a:off x="9072563" y="4076700"/>
            <a:ext cx="23764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Generator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019800" y="4457700"/>
            <a:ext cx="152400" cy="171450"/>
          </a:xfrm>
          <a:prstGeom prst="downArrow">
            <a:avLst/>
          </a:prstGeom>
          <a:solidFill>
            <a:srgbClr val="475569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600" y="4724400"/>
            <a:ext cx="10972800" cy="571500"/>
          </a:xfrm>
          <a:prstGeom prst="roundRect">
            <a:avLst>
              <a:gd name="adj" fmla="val 21667"/>
            </a:avLst>
          </a:prstGeom>
          <a:solidFill>
            <a:srgbClr val="10B981"/>
          </a:solidFill>
          <a:ln/>
        </p:spPr>
      </p:sp>
      <p:sp>
        <p:nvSpPr>
          <p:cNvPr id="49" name="Shape 47"/>
          <p:cNvSpPr/>
          <p:nvPr/>
        </p:nvSpPr>
        <p:spPr>
          <a:xfrm>
            <a:off x="800100" y="4933950"/>
            <a:ext cx="228600" cy="152400"/>
          </a:xfrm>
          <a:prstGeom prst="rightArrow">
            <a:avLst/>
          </a:prstGeom>
          <a:solidFill>
            <a:srgbClr val="0F172A"/>
          </a:solidFill>
          <a:ln/>
        </p:spPr>
      </p:sp>
      <p:sp>
        <p:nvSpPr>
          <p:cNvPr id="50" name="Text 48"/>
          <p:cNvSpPr/>
          <p:nvPr/>
        </p:nvSpPr>
        <p:spPr>
          <a:xfrm>
            <a:off x="1143000" y="472440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 &amp; Actions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104900" y="4724400"/>
            <a:ext cx="10172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in the dashboard &amp; copilot chat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— Confidential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8674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modern SaaS decision-intelligence stack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29500" cy="28575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0" y="0"/>
            <a:ext cx="47625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419100"/>
            <a:ext cx="209550" cy="209550"/>
          </a:xfrm>
          <a:prstGeom prst="roundRect">
            <a:avLst>
              <a:gd name="adj" fmla="val 29000"/>
            </a:avLst>
          </a:prstGeom>
          <a:solidFill>
            <a:srgbClr val="312E81"/>
          </a:solidFill>
          <a:ln/>
        </p:spPr>
      </p:sp>
      <p:sp>
        <p:nvSpPr>
          <p:cNvPr id="5" name="Shape 3"/>
          <p:cNvSpPr/>
          <p:nvPr/>
        </p:nvSpPr>
        <p:spPr>
          <a:xfrm>
            <a:off x="661988" y="536972"/>
            <a:ext cx="34925" cy="3492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838" y="475853"/>
            <a:ext cx="34925" cy="34925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39696" y="544830"/>
            <a:ext cx="27940" cy="279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679450" y="493316"/>
            <a:ext cx="69850" cy="61119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300" y="493316"/>
            <a:ext cx="4366" cy="6548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409575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0" y="4095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MARKET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9600" y="952500"/>
            <a:ext cx="857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6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MARKET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1143000"/>
            <a:ext cx="1047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decision intelligence at </a:t>
            </a:r>
            <a:pPr indent="0" marL="0">
              <a:buNone/>
            </a:pPr>
            <a:r>
              <a:rPr lang="en-US" sz="27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SME pricing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09600" y="1962150"/>
            <a:ext cx="4000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CUSTOMERS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9600" y="2190750"/>
            <a:ext cx="40005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950" y="22574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EEF2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9150" y="2390775"/>
            <a:ext cx="171450" cy="10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200" y="2343150"/>
            <a:ext cx="133350" cy="10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150" y="2390775"/>
            <a:ext cx="10" cy="1047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0600" y="2390775"/>
            <a:ext cx="10" cy="1047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0150" y="2190750"/>
            <a:ext cx="323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 marts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600" y="2705100"/>
            <a:ext cx="40005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2950" y="277177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EEF2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9150" y="2847975"/>
            <a:ext cx="152400" cy="152400"/>
          </a:xfrm>
          <a:prstGeom prst="roundRect">
            <a:avLst>
              <a:gd name="adj" fmla="val 18750"/>
            </a:avLst>
          </a:prstGeom>
          <a:ln w="25400">
            <a:solidFill>
              <a:srgbClr val="312E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7250" y="2933700"/>
            <a:ext cx="28575" cy="285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885825" y="2895600"/>
            <a:ext cx="57150" cy="666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0150" y="2705100"/>
            <a:ext cx="323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Convenience stores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9600" y="3219450"/>
            <a:ext cx="40005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2950" y="32861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EEF2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95350" y="3352800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1550" y="3400425"/>
            <a:ext cx="10" cy="857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895350" y="3486150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819150" y="3486150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819150" y="3400425"/>
            <a:ext cx="10" cy="857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819150" y="3352800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9150" y="3400425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>
            <a:off x="895350" y="3400425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5350" y="3448050"/>
            <a:ext cx="10" cy="857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00150" y="3219450"/>
            <a:ext cx="323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distributors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9600" y="3733800"/>
            <a:ext cx="40005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2950" y="380047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EEF2FF"/>
          </a:solidFill>
          <a:ln/>
        </p:spPr>
      </p:sp>
      <p:sp>
        <p:nvSpPr>
          <p:cNvPr id="42" name="Shape 40"/>
          <p:cNvSpPr/>
          <p:nvPr/>
        </p:nvSpPr>
        <p:spPr>
          <a:xfrm rot="2700000">
            <a:off x="809625" y="3867150"/>
            <a:ext cx="114300" cy="114300"/>
          </a:xfrm>
          <a:prstGeom prst="roundRect">
            <a:avLst>
              <a:gd name="adj" fmla="val 16667"/>
            </a:avLst>
          </a:prstGeom>
          <a:ln w="25400">
            <a:solidFill>
              <a:srgbClr val="312E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00150" y="3733800"/>
            <a:ext cx="323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SMEs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9600" y="4248150"/>
            <a:ext cx="40005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2950" y="43148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EEF2FF"/>
          </a:solidFill>
          <a:ln/>
        </p:spPr>
      </p:sp>
      <p:sp>
        <p:nvSpPr>
          <p:cNvPr id="46" name="Shape 44"/>
          <p:cNvSpPr/>
          <p:nvPr/>
        </p:nvSpPr>
        <p:spPr>
          <a:xfrm>
            <a:off x="828675" y="4400550"/>
            <a:ext cx="66675" cy="66675"/>
          </a:xfrm>
          <a:prstGeom prst="ellipse">
            <a:avLst/>
          </a:prstGeom>
          <a:ln w="25400">
            <a:solidFill>
              <a:srgbClr val="312E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0" y="4400550"/>
            <a:ext cx="66675" cy="66675"/>
          </a:xfrm>
          <a:prstGeom prst="ellipse">
            <a:avLst/>
          </a:prstGeom>
          <a:ln w="25400">
            <a:solidFill>
              <a:srgbClr val="312E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809625" y="4495800"/>
            <a:ext cx="57150" cy="666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3450" y="4495800"/>
            <a:ext cx="57150" cy="666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00150" y="4248150"/>
            <a:ext cx="323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Growing family businesses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05400" y="196215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POSITIONING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105400" y="2190750"/>
            <a:ext cx="6477000" cy="257175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95900" y="3476625"/>
            <a:ext cx="6096000" cy="1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43900" y="2381250"/>
            <a:ext cx="10" cy="219075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05400" y="2286000"/>
            <a:ext cx="6477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4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INTELLIGENCE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105400" y="4552950"/>
            <a:ext cx="6477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4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INTELLIGENCE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 rot="16200000">
            <a:off x="5048250" y="3409950"/>
            <a:ext cx="857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4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COST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 rot="5400000">
            <a:off x="10782300" y="3409950"/>
            <a:ext cx="857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4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COST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288405" y="3686175"/>
            <a:ext cx="95250" cy="9525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0" name="Text 58"/>
          <p:cNvSpPr/>
          <p:nvPr/>
        </p:nvSpPr>
        <p:spPr>
          <a:xfrm>
            <a:off x="5669280" y="381000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Spreadsheets &amp; paper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721215" y="3789045"/>
            <a:ext cx="95250" cy="9525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2" name="Text 60"/>
          <p:cNvSpPr/>
          <p:nvPr/>
        </p:nvSpPr>
        <p:spPr>
          <a:xfrm>
            <a:off x="9102090" y="391287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inventory apps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0174605" y="2760345"/>
            <a:ext cx="95250" cy="9525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4" name="Text 62"/>
          <p:cNvSpPr/>
          <p:nvPr/>
        </p:nvSpPr>
        <p:spPr>
          <a:xfrm>
            <a:off x="9555480" y="288417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· Oracle · Dynamics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526530" y="2726055"/>
            <a:ext cx="266700" cy="26670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66" name="Shape 64"/>
          <p:cNvSpPr/>
          <p:nvPr/>
        </p:nvSpPr>
        <p:spPr>
          <a:xfrm>
            <a:off x="6583680" y="2783205"/>
            <a:ext cx="152400" cy="152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6088380" y="2992755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09600" y="4953000"/>
            <a:ext cx="10972800" cy="1143000"/>
          </a:xfrm>
          <a:prstGeom prst="roundRect">
            <a:avLst>
              <a:gd name="adj" fmla="val 13333"/>
            </a:avLst>
          </a:prstGeom>
          <a:solidFill>
            <a:srgbClr val="312E81"/>
          </a:solidFill>
          <a:ln/>
        </p:spPr>
      </p:sp>
      <p:sp>
        <p:nvSpPr>
          <p:cNvPr id="69" name="Text 67"/>
          <p:cNvSpPr/>
          <p:nvPr/>
        </p:nvSpPr>
        <p:spPr>
          <a:xfrm>
            <a:off x="876300" y="5162550"/>
            <a:ext cx="4762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76300" y="53149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SMEs cannot afford enterprise systems like SAP, Oracle, or Microsoft Dynamics.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019800" y="5162550"/>
            <a:ext cx="9525" cy="74295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2" name="Text 70"/>
          <p:cNvSpPr/>
          <p:nvPr/>
        </p:nvSpPr>
        <p:spPr>
          <a:xfrm>
            <a:off x="6324600" y="5162550"/>
            <a:ext cx="4762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OPPORTUNITY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324600" y="53149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 enterprise-level decision intelligence at a price SMEs can actually pay.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— Confidential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8674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Decision Intelligence Platform for SMEs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29500" cy="28575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0" y="0"/>
            <a:ext cx="47625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419100"/>
            <a:ext cx="209550" cy="209550"/>
          </a:xfrm>
          <a:prstGeom prst="roundRect">
            <a:avLst>
              <a:gd name="adj" fmla="val 29000"/>
            </a:avLst>
          </a:prstGeom>
          <a:solidFill>
            <a:srgbClr val="312E81"/>
          </a:solidFill>
          <a:ln/>
        </p:spPr>
      </p:sp>
      <p:sp>
        <p:nvSpPr>
          <p:cNvPr id="5" name="Shape 3"/>
          <p:cNvSpPr/>
          <p:nvPr/>
        </p:nvSpPr>
        <p:spPr>
          <a:xfrm>
            <a:off x="661988" y="536972"/>
            <a:ext cx="34925" cy="3492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838" y="475853"/>
            <a:ext cx="34925" cy="34925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39696" y="544830"/>
            <a:ext cx="27940" cy="279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679450" y="493316"/>
            <a:ext cx="69850" cy="61119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300" y="493316"/>
            <a:ext cx="4366" cy="6548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409575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0" y="4095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WEEK MVP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9600" y="952500"/>
            <a:ext cx="857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6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 FOR THE AIM COMPETITION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114300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Week MVP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09600" y="200025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SHIPPING IN BUILD WEEK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9600" y="2247900"/>
            <a:ext cx="38100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" y="2400300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" y="2486025"/>
            <a:ext cx="38100" cy="381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76300" y="2447925"/>
            <a:ext cx="66675" cy="762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4900" y="224790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600" y="2800350"/>
            <a:ext cx="38100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" y="2952750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200" y="3038475"/>
            <a:ext cx="38100" cy="381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876300" y="3000375"/>
            <a:ext cx="66675" cy="762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4900" y="280035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Demand Forecast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600" y="3352800"/>
            <a:ext cx="38100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" y="3505200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838200" y="3590925"/>
            <a:ext cx="38100" cy="381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76300" y="3552825"/>
            <a:ext cx="66675" cy="762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4900" y="335280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Reorder Intelligence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9600" y="3905250"/>
            <a:ext cx="38100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" y="4057650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Shape 30"/>
          <p:cNvSpPr/>
          <p:nvPr/>
        </p:nvSpPr>
        <p:spPr>
          <a:xfrm>
            <a:off x="838200" y="4143375"/>
            <a:ext cx="38100" cy="381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876300" y="4105275"/>
            <a:ext cx="66675" cy="762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4900" y="390525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 Stock Detection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9600" y="4457700"/>
            <a:ext cx="38100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0100" y="4610100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Shape 35"/>
          <p:cNvSpPr/>
          <p:nvPr/>
        </p:nvSpPr>
        <p:spPr>
          <a:xfrm>
            <a:off x="838200" y="4695825"/>
            <a:ext cx="38100" cy="381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876300" y="4657725"/>
            <a:ext cx="66675" cy="762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04900" y="445770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Business Copilot Chat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14900" y="200025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SCENARIO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14900" y="2247900"/>
            <a:ext cx="66675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67300" y="2362200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EEF2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67300" y="23622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67350" y="224790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uploads sales records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334000" y="2781300"/>
            <a:ext cx="114300" cy="13335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46" name="Shape 44"/>
          <p:cNvSpPr/>
          <p:nvPr/>
        </p:nvSpPr>
        <p:spPr>
          <a:xfrm>
            <a:off x="4914900" y="2971800"/>
            <a:ext cx="66675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67300" y="3086100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EEF2FF"/>
          </a:solidFill>
          <a:ln/>
        </p:spPr>
      </p:sp>
      <p:sp>
        <p:nvSpPr>
          <p:cNvPr id="48" name="Text 46"/>
          <p:cNvSpPr/>
          <p:nvPr/>
        </p:nvSpPr>
        <p:spPr>
          <a:xfrm>
            <a:off x="5067300" y="30861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67350" y="297180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analyzes the data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334000" y="3505200"/>
            <a:ext cx="114300" cy="13335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51" name="Shape 49"/>
          <p:cNvSpPr/>
          <p:nvPr/>
        </p:nvSpPr>
        <p:spPr>
          <a:xfrm>
            <a:off x="4914900" y="3695700"/>
            <a:ext cx="6667500" cy="781050"/>
          </a:xfrm>
          <a:prstGeom prst="roundRect">
            <a:avLst>
              <a:gd name="adj" fmla="val 14634"/>
            </a:avLst>
          </a:prstGeom>
          <a:solidFill>
            <a:srgbClr val="0F172A"/>
          </a:solidFill>
          <a:ln/>
        </p:spPr>
      </p:sp>
      <p:sp>
        <p:nvSpPr>
          <p:cNvPr id="52" name="Shape 50"/>
          <p:cNvSpPr/>
          <p:nvPr/>
        </p:nvSpPr>
        <p:spPr>
          <a:xfrm>
            <a:off x="5067300" y="3810000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5067300" y="38100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67350" y="37719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detects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067300" y="4133850"/>
            <a:ext cx="1432560" cy="22860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/>
        </p:spPr>
      </p:sp>
      <p:sp>
        <p:nvSpPr>
          <p:cNvPr id="56" name="Text 54"/>
          <p:cNvSpPr/>
          <p:nvPr/>
        </p:nvSpPr>
        <p:spPr>
          <a:xfrm>
            <a:off x="5067300" y="4133850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Upcoming stock shortages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576060" y="413385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/>
        </p:spPr>
      </p:sp>
      <p:sp>
        <p:nvSpPr>
          <p:cNvPr id="58" name="Text 56"/>
          <p:cNvSpPr/>
          <p:nvPr/>
        </p:nvSpPr>
        <p:spPr>
          <a:xfrm>
            <a:off x="6576060" y="41338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 stock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338060" y="4133850"/>
            <a:ext cx="952500" cy="22860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/>
        </p:spPr>
      </p:sp>
      <p:sp>
        <p:nvSpPr>
          <p:cNvPr id="60" name="Text 58"/>
          <p:cNvSpPr/>
          <p:nvPr/>
        </p:nvSpPr>
        <p:spPr>
          <a:xfrm>
            <a:off x="7338060" y="413385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flow risks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334000" y="4552950"/>
            <a:ext cx="114300" cy="133350"/>
          </a:xfrm>
          <a:prstGeom prst="downArrow">
            <a:avLst/>
          </a:prstGeom>
          <a:solidFill>
            <a:srgbClr val="6EE7B7"/>
          </a:solidFill>
          <a:ln/>
        </p:spPr>
      </p:sp>
      <p:sp>
        <p:nvSpPr>
          <p:cNvPr id="62" name="Shape 60"/>
          <p:cNvSpPr/>
          <p:nvPr/>
        </p:nvSpPr>
        <p:spPr>
          <a:xfrm>
            <a:off x="4914900" y="4743450"/>
            <a:ext cx="6667500" cy="476250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67300" y="4857750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10B981"/>
          </a:solidFill>
          <a:ln/>
        </p:spPr>
      </p:sp>
      <p:sp>
        <p:nvSpPr>
          <p:cNvPr id="64" name="Text 62"/>
          <p:cNvSpPr/>
          <p:nvPr/>
        </p:nvSpPr>
        <p:spPr>
          <a:xfrm>
            <a:off x="5067300" y="4857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467350" y="474345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delivers actionable recommendations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— Confidential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8674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→ analyze → detect → act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29500" cy="28575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0" y="0"/>
            <a:ext cx="47625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419100"/>
            <a:ext cx="209550" cy="209550"/>
          </a:xfrm>
          <a:prstGeom prst="roundRect">
            <a:avLst>
              <a:gd name="adj" fmla="val 29000"/>
            </a:avLst>
          </a:prstGeom>
          <a:solidFill>
            <a:srgbClr val="312E81"/>
          </a:solidFill>
          <a:ln/>
        </p:spPr>
      </p:sp>
      <p:sp>
        <p:nvSpPr>
          <p:cNvPr id="5" name="Shape 3"/>
          <p:cNvSpPr/>
          <p:nvPr/>
        </p:nvSpPr>
        <p:spPr>
          <a:xfrm>
            <a:off x="661988" y="536972"/>
            <a:ext cx="34925" cy="3492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838" y="475853"/>
            <a:ext cx="34925" cy="34925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39696" y="544830"/>
            <a:ext cx="27940" cy="279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679450" y="493316"/>
            <a:ext cx="69850" cy="61119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300" y="493316"/>
            <a:ext cx="4366" cy="6548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409575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0" y="4095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VISION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  </a:t>
            </a:r>
            <a:pPr algn="r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9600" y="952500"/>
            <a:ext cx="857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6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VISION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1143000"/>
            <a:ext cx="1047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Operating System for SMEs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09600" y="1981200"/>
            <a:ext cx="3552825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050" y="215265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925" y="2209800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0125" y="2257425"/>
            <a:ext cx="10" cy="857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923925" y="2343150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 flipV="1">
            <a:off x="847725" y="2343150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47725" y="2257425"/>
            <a:ext cx="10" cy="857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47725" y="2209800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7725" y="2257425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923925" y="2257425"/>
            <a:ext cx="76200" cy="476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925" y="2305050"/>
            <a:ext cx="10" cy="8572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050" y="2514600"/>
            <a:ext cx="3209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intelligence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1050" y="2724150"/>
            <a:ext cx="3209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suppliers on price, reliability and lead time.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95775" y="1981200"/>
            <a:ext cx="3552825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7225" y="215265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33900" y="2219325"/>
            <a:ext cx="152400" cy="152400"/>
          </a:xfrm>
          <a:prstGeom prst="roundRect">
            <a:avLst>
              <a:gd name="adj" fmla="val 18750"/>
            </a:avLst>
          </a:prstGeom>
          <a:ln w="25400">
            <a:solidFill>
              <a:srgbClr val="312E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305050"/>
            <a:ext cx="28575" cy="285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4600575" y="2266950"/>
            <a:ext cx="57150" cy="666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7225" y="2514600"/>
            <a:ext cx="3209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purchasing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67225" y="2724150"/>
            <a:ext cx="3209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purchase orders tuned to demand.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81950" y="1981200"/>
            <a:ext cx="3552825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53400" y="215265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0075" y="2219325"/>
            <a:ext cx="152400" cy="152400"/>
          </a:xfrm>
          <a:prstGeom prst="ellipse">
            <a:avLst/>
          </a:prstGeom>
          <a:ln w="25400">
            <a:solidFill>
              <a:srgbClr val="312E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96275" y="2247900"/>
            <a:ext cx="10" cy="95250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53400" y="2514600"/>
            <a:ext cx="3209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pricing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53400" y="2724150"/>
            <a:ext cx="3209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recommendations that protect margin and turnover.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9600" y="3371850"/>
            <a:ext cx="3552825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1050" y="35433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/>
        </p:spPr>
      </p:sp>
      <p:sp>
        <p:nvSpPr>
          <p:cNvPr id="42" name="Shape 40"/>
          <p:cNvSpPr/>
          <p:nvPr/>
        </p:nvSpPr>
        <p:spPr>
          <a:xfrm flipV="1">
            <a:off x="857250" y="3695700"/>
            <a:ext cx="66675" cy="666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3925" y="3695700"/>
            <a:ext cx="38100" cy="28575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62025" y="3648075"/>
            <a:ext cx="66675" cy="76200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050" y="3905250"/>
            <a:ext cx="3209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forecasting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81050" y="4114800"/>
            <a:ext cx="3209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revenue, cash and working capital forward.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295775" y="3371850"/>
            <a:ext cx="3552825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67225" y="35433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/>
        </p:spPr>
      </p:sp>
      <p:sp>
        <p:nvSpPr>
          <p:cNvPr id="49" name="Shape 47"/>
          <p:cNvSpPr/>
          <p:nvPr/>
        </p:nvSpPr>
        <p:spPr>
          <a:xfrm flipV="1">
            <a:off x="4552950" y="3714750"/>
            <a:ext cx="10" cy="66675"/>
          </a:xfrm>
          <a:prstGeom prst="line">
            <a:avLst/>
          </a:prstGeom>
          <a:noFill/>
          <a:ln w="30480">
            <a:solidFill>
              <a:srgbClr val="312E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4610100" y="3657600"/>
            <a:ext cx="10" cy="123825"/>
          </a:xfrm>
          <a:prstGeom prst="line">
            <a:avLst/>
          </a:prstGeom>
          <a:noFill/>
          <a:ln w="30480">
            <a:solidFill>
              <a:srgbClr val="312E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667250" y="3695700"/>
            <a:ext cx="10" cy="85725"/>
          </a:xfrm>
          <a:prstGeom prst="line">
            <a:avLst/>
          </a:prstGeom>
          <a:noFill/>
          <a:ln w="30480">
            <a:solidFill>
              <a:srgbClr val="312E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714875" y="3733800"/>
            <a:ext cx="10" cy="47625"/>
          </a:xfrm>
          <a:prstGeom prst="line">
            <a:avLst/>
          </a:prstGeom>
          <a:noFill/>
          <a:ln w="30480">
            <a:solidFill>
              <a:srgbClr val="312E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67225" y="3905250"/>
            <a:ext cx="3209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benchmarking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467225" y="4114800"/>
            <a:ext cx="3209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how the business compares to similar SMEs.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981950" y="3371850"/>
            <a:ext cx="3552825" cy="1257300"/>
          </a:xfrm>
          <a:prstGeom prst="roundRect">
            <a:avLst>
              <a:gd name="adj" fmla="val 10606"/>
            </a:avLst>
          </a:prstGeom>
          <a:solidFill>
            <a:srgbClr val="312E81"/>
          </a:solidFill>
          <a:ln/>
        </p:spPr>
      </p:sp>
      <p:sp>
        <p:nvSpPr>
          <p:cNvPr id="56" name="Shape 54"/>
          <p:cNvSpPr/>
          <p:nvPr/>
        </p:nvSpPr>
        <p:spPr>
          <a:xfrm>
            <a:off x="8153400" y="35433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3B378E"/>
          </a:solidFill>
          <a:ln/>
        </p:spPr>
      </p:sp>
      <p:sp>
        <p:nvSpPr>
          <p:cNvPr id="57" name="Shape 55"/>
          <p:cNvSpPr/>
          <p:nvPr/>
        </p:nvSpPr>
        <p:spPr>
          <a:xfrm>
            <a:off x="8210550" y="3619500"/>
            <a:ext cx="171450" cy="123825"/>
          </a:xfrm>
          <a:prstGeom prst="roundRect">
            <a:avLst>
              <a:gd name="adj" fmla="val 30769"/>
            </a:avLst>
          </a:prstGeom>
          <a:ln w="25400">
            <a:solidFill>
              <a:srgbClr val="34D39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0800000">
            <a:off x="8248650" y="3724275"/>
            <a:ext cx="57150" cy="57150"/>
          </a:xfrm>
          <a:prstGeom prst="triangle">
            <a:avLst/>
          </a:prstGeom>
          <a:solidFill>
            <a:srgbClr val="34D399"/>
          </a:solidFill>
          <a:ln/>
        </p:spPr>
      </p:sp>
      <p:sp>
        <p:nvSpPr>
          <p:cNvPr id="59" name="Text 57"/>
          <p:cNvSpPr/>
          <p:nvPr/>
        </p:nvSpPr>
        <p:spPr>
          <a:xfrm>
            <a:off x="8153400" y="3905250"/>
            <a:ext cx="3209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Khmer-language AI advisor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153400" y="4114800"/>
            <a:ext cx="3209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Advice in the language every owner already speaks.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09600" y="4762500"/>
            <a:ext cx="10972800" cy="1104900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" y="4972050"/>
            <a:ext cx="28575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1143000" y="4972050"/>
            <a:ext cx="10096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Cambodian SME deserves access to an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business analyst.</a:t>
            </a:r>
            <a:endParaRPr lang="en-US" sz="1900" dirty="0"/>
          </a:p>
        </p:txBody>
      </p:sp>
      <p:sp>
        <p:nvSpPr>
          <p:cNvPr id="64" name="Text 62"/>
          <p:cNvSpPr/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— Confidential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8674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copilot to operating system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5829300" y="1866900"/>
            <a:ext cx="533400" cy="533400"/>
          </a:xfrm>
          <a:prstGeom prst="roundRect">
            <a:avLst>
              <a:gd name="adj" fmla="val 29000"/>
            </a:avLst>
          </a:prstGeom>
          <a:solidFill>
            <a:srgbClr val="312E81"/>
          </a:solidFill>
          <a:ln/>
        </p:spPr>
      </p:sp>
      <p:sp>
        <p:nvSpPr>
          <p:cNvPr id="5" name="Shape 3"/>
          <p:cNvSpPr/>
          <p:nvPr/>
        </p:nvSpPr>
        <p:spPr>
          <a:xfrm>
            <a:off x="5962650" y="2166938"/>
            <a:ext cx="88900" cy="889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6140450" y="2011363"/>
            <a:ext cx="88900" cy="88900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6160453" y="2186940"/>
            <a:ext cx="71120" cy="711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6007100" y="2055813"/>
            <a:ext cx="177800" cy="155575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4900" y="2055813"/>
            <a:ext cx="11112" cy="166688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647950"/>
            <a:ext cx="1219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0" y="3352800"/>
            <a:ext cx="1219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Operating Copilot for Cambodian SMEs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86450" y="3924300"/>
            <a:ext cx="4191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667000" y="42291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“Every Cambodian SME deserves access to an </a:t>
            </a:r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business analyst.</a:t>
            </a:r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0" y="5219700"/>
            <a:ext cx="1219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[contact email]</a:t>
            </a:r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•     </a:t>
            </a:r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[website]</a:t>
            </a:r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•     </a:t>
            </a:r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AIM Competition — August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9600" y="63055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— 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63055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Inventra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Inventra AI — The AI Operating Copilot for Cambodian SMEs</dc:title>
  <dc:subject>PptxGenJS Presentation</dc:subject>
  <dc:creator>Inventra AI</dc:creator>
  <cp:lastModifiedBy>Inventra AI</cp:lastModifiedBy>
  <cp:revision>1</cp:revision>
  <dcterms:created xsi:type="dcterms:W3CDTF">2026-08-28T04:00:48Z</dcterms:created>
  <dcterms:modified xsi:type="dcterms:W3CDTF">2026-08-28T04:00:48Z</dcterms:modified>
</cp:coreProperties>
</file>